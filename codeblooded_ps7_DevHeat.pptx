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joCMj4glHCdmHkWPX0vhvQUSE/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7" Type="http://customschemas.google.com/relationships/presentationmetadata" Target="meta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58a2de1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c758a2de1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758a2de1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c758a2de1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9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9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9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9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9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1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12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p12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8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rgbClr val="F9F9F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b="0" i="0" sz="18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eanwhile-omkar/IIIT-Surat-Multimodal-edutech/tree/main" TargetMode="External"/><Relationship Id="rId4" Type="http://schemas.openxmlformats.org/officeDocument/2006/relationships/hyperlink" Target="https://forms.gle/bfCz861sDD8DHYUz6" TargetMode="External"/><Relationship Id="rId5" Type="http://schemas.openxmlformats.org/officeDocument/2006/relationships/hyperlink" Target="https://iiit-surat-multimodal-edutech.vercel.app/" TargetMode="External"/><Relationship Id="rId6" Type="http://schemas.openxmlformats.org/officeDocument/2006/relationships/hyperlink" Target="https://youtu.be/Rj11_ZpqC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671258" y="7242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36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CodeBlooded</a:t>
            </a:r>
            <a:endParaRPr>
              <a:solidFill>
                <a:srgbClr val="36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671250" y="2591975"/>
            <a:ext cx="78015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Study Coach</a:t>
            </a:r>
            <a:endParaRPr b="1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6550" y="238625"/>
            <a:ext cx="5730900" cy="7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671250" y="2992851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use multiple learning sources but cannot integrate them into structured study plans. Built an AI tutor that merges video, text, and notes into intelligent learning paths.</a:t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multimodal AI assistant that converts lectures and PDFs into structured knowledge.</a:t>
            </a:r>
            <a:endParaRPr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883050" y="4123900"/>
            <a:ext cx="6554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Omkar Haryan, Panav Jogi, Keith Fernandes</a:t>
            </a:r>
            <a:endParaRPr sz="13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Dwarkadas J. Sanghvi College of Engineering</a:t>
            </a:r>
            <a:endParaRPr sz="13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Mumbai, Maharashtra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758a2de1b_1_1"/>
          <p:cNvSpPr txBox="1"/>
          <p:nvPr>
            <p:ph type="title"/>
          </p:nvPr>
        </p:nvSpPr>
        <p:spPr>
          <a:xfrm>
            <a:off x="11912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36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the project</a:t>
            </a:r>
            <a:endParaRPr>
              <a:solidFill>
                <a:srgbClr val="36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g3c758a2de1b_1_1"/>
          <p:cNvSpPr txBox="1"/>
          <p:nvPr>
            <p:ph idx="1" type="body"/>
          </p:nvPr>
        </p:nvSpPr>
        <p:spPr>
          <a:xfrm>
            <a:off x="119125" y="572700"/>
            <a:ext cx="4907400" cy="4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Features: Beyond Simple Summarization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Ingestion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Automatically transforms fragmented PDFs, PowerPoint slides, and YouTube lecture URLs into a unified, searchable knowledge base.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In-Context Clarity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Prevents distraction by allowing students to select text for instant, side-window definitions that maintain context without tab-switching.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Knowledge Graphing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Unifies all sources—including PDFs, YouTube, and OCR-scanned screenshots—into a prerequisite-aware concept graph that prioritizes what to study next while flagging knowledge gaps based on quiz performance.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Assessment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Generates custom assessments (MCQ, conceptual, and short-answer) from raw materials to identify and close specific knowledge gaps.</a:t>
            </a:r>
            <a:endParaRPr b="1" sz="12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g3c758a2de1b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625" y="295159"/>
            <a:ext cx="4420125" cy="1161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c758a2de1b_1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6438" y="1638350"/>
            <a:ext cx="3613299" cy="14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c758a2de1b_1_1"/>
          <p:cNvPicPr preferRelativeResize="0"/>
          <p:nvPr/>
        </p:nvPicPr>
        <p:blipFill rotWithShape="1">
          <a:blip r:embed="rId5">
            <a:alphaModFix/>
          </a:blip>
          <a:srcRect b="3079" l="2659" r="-2660" t="-3080"/>
          <a:stretch/>
        </p:blipFill>
        <p:spPr>
          <a:xfrm>
            <a:off x="5026462" y="3357999"/>
            <a:ext cx="4034174" cy="13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758a2de1b_1_7"/>
          <p:cNvSpPr txBox="1"/>
          <p:nvPr>
            <p:ph type="title"/>
          </p:nvPr>
        </p:nvSpPr>
        <p:spPr>
          <a:xfrm>
            <a:off x="119125" y="107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36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the project</a:t>
            </a:r>
            <a:endParaRPr>
              <a:solidFill>
                <a:srgbClr val="36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g3c758a2de1b_1_7"/>
          <p:cNvSpPr txBox="1"/>
          <p:nvPr>
            <p:ph idx="1" type="body"/>
          </p:nvPr>
        </p:nvSpPr>
        <p:spPr>
          <a:xfrm>
            <a:off x="675300" y="1068950"/>
            <a:ext cx="7793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Architecture: Modular &amp; Intelligence-Driven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Layer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Orchestrated by OpenRouter (Liquid LFM-2.5b Thinking model) for high-fidelity synthesis and automated question generation.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Layer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Employs ChromaDB for persistent vector storage and NetworkX to maintain prerequisite-aware concept graphs.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Model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Tracks mastery via a hybrid scoring formula and the FSRS algorithm for mathematically optimized retention.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Edge: The "Closed-Loop" Advantage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Efficiency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Transitions from raw documents to adaptive quizzes in a single click, eliminating the need for manual flashcard creation.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Mastery Signals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Fuses accuracy, response time, and exposure counts into a data-driven mastery score to pinpoint weak topics.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Privacy-First Design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Ensures all student data and progress remain local through persistent on-disk storage using SQLite and ChromaDB.</a:t>
            </a:r>
            <a:endParaRPr b="1" sz="12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168575" y="90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36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 used</a:t>
            </a:r>
            <a:endParaRPr>
              <a:solidFill>
                <a:srgbClr val="36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168575" y="663275"/>
            <a:ext cx="8828100" cy="4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Stack: Modern, Full-Stack Excellence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Next.js 16 (React)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Chosen for its robust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Server-Side Rendering (SSR)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Site Generation (SSG)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ensure a lightning-fast student dashboard and seamless "In-Context Definition" side windows.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FastAPI (Python)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Acts as our high-performance orchestrator, handling heavy computational tasks like RAG logic and FSRS scheduling with minimal latency.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Intelligence &amp; Data Pipeline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OpenRouter (Liquid LFM-2.5b Thinking)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Leverages advanced "thinking" models for accurate educational concept extraction and complex relationship mapping between prerequisite topics.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&amp; Knowledge Layer: ChromaDB &amp; NetworkX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We use ChromaDB for persistent, zero-config vector storage and NetworkX to maintain the logical, hierarchical relationships within the concept graph.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Embeddings: SentenceTransformers (all-MiniLM-L6-v2)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Provides efficient, high-speed semantic retrieval without the high overhead of larger embedding models.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Specific Stack?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Eliminating Context Switch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By combining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can provide a frictionless UI where students can get instant definitions in-app, preventing the distraction of switching to Google or ChatGPT.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Local-First Privacy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Using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SQLite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(via SQLAlchemy) and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ChromaDB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disk ensures that student data and progress remain strictly local and private.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Science-Backed Learning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stack is specifically optimized to run the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FSRS (Free Spaced Repetition Scheduler)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algorithm, moving beyond static flashcards to mathematically optimized long-term memory retention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352925" y="197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36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 to the project</a:t>
            </a:r>
            <a:endParaRPr>
              <a:solidFill>
                <a:srgbClr val="36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311700" y="987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rPr b="1" lang="en" sz="1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1: Foundation &amp; Ingestion (The Starting Line)</a:t>
            </a:r>
            <a:endParaRPr b="1" sz="12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Skeleton: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began by establishing a robust FastAPI backend and a Next.js frontend to ensure high-performance, asynchronous orchestration from day one.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Document Pipeline: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first functional component built was the ingestion engine using </a:t>
            </a: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Unstructured.io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parse complex PDFs/PPTXs and </a:t>
            </a: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youtube-transcript-api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video data, ensuring a "raw material" stream.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Storage: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prioritized the setup of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ChromaDB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persistent vector storage and semantic retrieval, which serves as the memory for all subsequent layers.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rPr b="1" lang="en" sz="1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2: Intelligence &amp; Synthesis (The Knowledge Core)</a:t>
            </a:r>
            <a:endParaRPr b="1" sz="12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Graph Construction: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Once data was flowing, we implemented LLM-based entity/relation extraction to build a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NetworkX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graph, mapping how educational concepts link together.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Quiz Engineering: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developed a multi-stage quiz generation module using LLM prompt templates to produce high-quality, Bloom's Taxonomy-aligned MCQs and conceptual questions.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rPr b="1" lang="en" sz="1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3: Remediation &amp; Personalization (Closing the Loop)</a:t>
            </a:r>
            <a:endParaRPr b="1" sz="12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Modeling: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final piece was the implementation of the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FSRS (Free Spaced Repetition Scheduler)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our hybrid mastery formula to track knowledge state over time.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Recommendations:</a:t>
            </a: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built the recommendation engine to analyze mastery gaps and automatically suggest specific review sources (e.g., exact timestamps or slide numbers) for weak topics.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95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525" y="127725"/>
            <a:ext cx="8564250" cy="46752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5724200" y="188850"/>
            <a:ext cx="30003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97375" y="19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your architecture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97375" y="863550"/>
            <a:ext cx="4398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b="1" lang="en" sz="11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Ingestion: The Entry Point</a:t>
            </a:r>
            <a:endParaRPr b="1" sz="11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pipeline begins by capturing diverse study materials:</a:t>
            </a:r>
            <a:endParaRPr sz="10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Char char="●"/>
            </a:pPr>
            <a:r>
              <a:rPr b="1"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Unstructured.io</a:t>
            </a:r>
            <a:r>
              <a:rPr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Acts as our universal parser for complex document layouts like PDFs and PowerPoint slides.</a:t>
            </a:r>
            <a:endParaRPr sz="10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Char char="●"/>
            </a:pPr>
            <a:r>
              <a:rPr b="1"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 Transcript API</a:t>
            </a:r>
            <a:r>
              <a:rPr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Seamlessly pulls lecture data from video URLs.</a:t>
            </a:r>
            <a:endParaRPr sz="10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Char char="●"/>
            </a:pPr>
            <a:r>
              <a:rPr b="1"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LangChain</a:t>
            </a:r>
            <a:r>
              <a:rPr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Orchestrates the initial data flow, preparing content for processing.</a:t>
            </a:r>
            <a:endParaRPr sz="10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b="1" lang="en" sz="11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Knowledge: The Semantic Engine</a:t>
            </a:r>
            <a:endParaRPr b="1" sz="11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ingested, the data is structured for deep understanding:</a:t>
            </a:r>
            <a:endParaRPr sz="10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Char char="●"/>
            </a:pPr>
            <a:r>
              <a:rPr b="1"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Transformers</a:t>
            </a:r>
            <a:r>
              <a:rPr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Converts text chunks into vector embeddings.</a:t>
            </a:r>
            <a:endParaRPr sz="10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Char char="●"/>
            </a:pPr>
            <a:r>
              <a:rPr b="1"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ChromaDB</a:t>
            </a:r>
            <a:r>
              <a:rPr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high-speed vector store that allows the system to retrieve contextually relevant information instantly.</a:t>
            </a:r>
            <a:endParaRPr sz="10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Char char="●"/>
            </a:pPr>
            <a:r>
              <a:rPr b="1"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Graph (NetworkX)</a:t>
            </a:r>
            <a:r>
              <a:rPr lang="en" sz="1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Beyond simple lists, we build a prerequisite-aware map of how topics relate to each other, ensuring students learn in a logical order.</a:t>
            </a:r>
            <a:endParaRPr sz="132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4495975" y="863550"/>
            <a:ext cx="4336200" cy="3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1120">
                <a:latin typeface="Times New Roman"/>
                <a:ea typeface="Times New Roman"/>
                <a:cs typeface="Times New Roman"/>
                <a:sym typeface="Times New Roman"/>
              </a:rPr>
              <a:t>3. LLM/Quiz: The Intelligence Layer</a:t>
            </a:r>
            <a:endParaRPr b="1"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This is where synthesis happens using </a:t>
            </a:r>
            <a:r>
              <a:rPr b="1" lang="en" sz="1040">
                <a:latin typeface="Times New Roman"/>
                <a:ea typeface="Times New Roman"/>
                <a:cs typeface="Times New Roman"/>
                <a:sym typeface="Times New Roman"/>
              </a:rPr>
              <a:t>GPT-4o-mini</a:t>
            </a: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 or local </a:t>
            </a:r>
            <a:r>
              <a:rPr b="1" lang="en" sz="1040">
                <a:latin typeface="Times New Roman"/>
                <a:ea typeface="Times New Roman"/>
                <a:cs typeface="Times New Roman"/>
                <a:sym typeface="Times New Roman"/>
              </a:rPr>
              <a:t>Llama 3.1</a:t>
            </a: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0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40"/>
              <a:buChar char="●"/>
            </a:pPr>
            <a:r>
              <a:rPr b="1" lang="en" sz="1040">
                <a:latin typeface="Times New Roman"/>
                <a:ea typeface="Times New Roman"/>
                <a:cs typeface="Times New Roman"/>
                <a:sym typeface="Times New Roman"/>
              </a:rPr>
              <a:t>Summarization &amp; Mapping</a:t>
            </a: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: The LLM condenses long lectures into core concepts.</a:t>
            </a:r>
            <a:endParaRPr sz="10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40"/>
              <a:buChar char="●"/>
            </a:pPr>
            <a:r>
              <a:rPr b="1" lang="en" sz="1040">
                <a:latin typeface="Times New Roman"/>
                <a:ea typeface="Times New Roman"/>
                <a:cs typeface="Times New Roman"/>
                <a:sym typeface="Times New Roman"/>
              </a:rPr>
              <a:t>Adaptive Quizzing</a:t>
            </a: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: Instead of static questions, the system generates MCQs and conceptual tests dynamically based on the source material.</a:t>
            </a:r>
            <a:endParaRPr sz="10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40"/>
              <a:buChar char="●"/>
            </a:pPr>
            <a:r>
              <a:rPr b="1" lang="en" sz="1040">
                <a:latin typeface="Times New Roman"/>
                <a:ea typeface="Times New Roman"/>
                <a:cs typeface="Times New Roman"/>
                <a:sym typeface="Times New Roman"/>
              </a:rPr>
              <a:t>Orchestration</a:t>
            </a: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: LangChain manages the complex logic of feeding the right context to the LLM for accurate generation.</a:t>
            </a:r>
            <a:endParaRPr sz="10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1120">
                <a:latin typeface="Times New Roman"/>
                <a:ea typeface="Times New Roman"/>
                <a:cs typeface="Times New Roman"/>
                <a:sym typeface="Times New Roman"/>
              </a:rPr>
              <a:t>4. Student Model: The Feedback Loop</a:t>
            </a:r>
            <a:endParaRPr b="1" sz="11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This final layer closes the loop, turning performance into personalization:</a:t>
            </a:r>
            <a:endParaRPr sz="10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40"/>
              <a:buChar char="●"/>
            </a:pPr>
            <a:r>
              <a:rPr b="1" lang="en" sz="1040">
                <a:latin typeface="Times New Roman"/>
                <a:ea typeface="Times New Roman"/>
                <a:cs typeface="Times New Roman"/>
                <a:sym typeface="Times New Roman"/>
              </a:rPr>
              <a:t>SQLite</a:t>
            </a: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: Stores persistent data on quiz attempts and student progress.</a:t>
            </a:r>
            <a:endParaRPr sz="10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40"/>
              <a:buChar char="●"/>
            </a:pPr>
            <a:r>
              <a:rPr b="1" lang="en" sz="1040">
                <a:latin typeface="Times New Roman"/>
                <a:ea typeface="Times New Roman"/>
                <a:cs typeface="Times New Roman"/>
                <a:sym typeface="Times New Roman"/>
              </a:rPr>
              <a:t>Hybrid Mastery Scoring</a:t>
            </a: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: We calculate a "Mastery Score" by fusing accuracy, response time, and exposure count.</a:t>
            </a:r>
            <a:endParaRPr sz="10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6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40"/>
              <a:buChar char="●"/>
            </a:pPr>
            <a:r>
              <a:rPr b="1" lang="en" sz="1040">
                <a:latin typeface="Times New Roman"/>
                <a:ea typeface="Times New Roman"/>
                <a:cs typeface="Times New Roman"/>
                <a:sym typeface="Times New Roman"/>
              </a:rPr>
              <a:t>Personalized Study Flow</a:t>
            </a:r>
            <a:r>
              <a:rPr lang="en" sz="1040">
                <a:latin typeface="Times New Roman"/>
                <a:ea typeface="Times New Roman"/>
                <a:cs typeface="Times New Roman"/>
                <a:sym typeface="Times New Roman"/>
              </a:rPr>
              <a:t>: The system identifies weak topics and feeds them back into the loop, prioritizing them in the next study session to ensure no knowledge gaps remain.</a:t>
            </a:r>
            <a:endParaRPr sz="132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242900" y="2147400"/>
            <a:ext cx="40452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>
                <a:solidFill>
                  <a:schemeClr val="lt1"/>
                </a:solidFill>
              </a:rPr>
              <a:t>Thank you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7"/>
          <p:cNvSpPr txBox="1"/>
          <p:nvPr>
            <p:ph idx="2" type="body"/>
          </p:nvPr>
        </p:nvSpPr>
        <p:spPr>
          <a:xfrm>
            <a:off x="4731300" y="724200"/>
            <a:ext cx="4045200" cy="36951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434343"/>
                </a:solidFill>
              </a:rPr>
              <a:t>Relevant links here.</a:t>
            </a:r>
            <a:endParaRPr>
              <a:solidFill>
                <a:srgbClr val="434343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b="1" lang="en">
                <a:solidFill>
                  <a:srgbClr val="434343"/>
                </a:solidFill>
              </a:rPr>
              <a:t>Github</a:t>
            </a:r>
            <a:r>
              <a:rPr b="1" lang="en">
                <a:solidFill>
                  <a:srgbClr val="434343"/>
                </a:solidFill>
              </a:rPr>
              <a:t> </a:t>
            </a:r>
            <a:r>
              <a:rPr b="1" lang="en" u="sng">
                <a:solidFill>
                  <a:srgbClr val="E6913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https://github.com/Meanwhile-omkar/IIIT-Surat-Multimodal-edutech/tree/main</a:t>
            </a:r>
            <a:endParaRPr b="1">
              <a:solidFill>
                <a:srgbClr val="E69138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b="1" lang="en">
                <a:solidFill>
                  <a:srgbClr val="434343"/>
                </a:solidFill>
              </a:rPr>
              <a:t>Fill Form: </a:t>
            </a:r>
            <a:r>
              <a:rPr b="1" lang="en" u="sng">
                <a:solidFill>
                  <a:srgbClr val="E69138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https://forms.gle/bfCz861sDD8DHYUz6</a:t>
            </a:r>
            <a:endParaRPr b="1" u="sng">
              <a:solidFill>
                <a:srgbClr val="E69138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b="1" lang="en">
                <a:solidFill>
                  <a:srgbClr val="434343"/>
                </a:solidFill>
              </a:rPr>
              <a:t>Hosted project link </a:t>
            </a:r>
            <a:r>
              <a:rPr b="1" lang="en" u="sng">
                <a:solidFill>
                  <a:srgbClr val="E69138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https://iiit-surat-multimodal-edutech.vercel.app/</a:t>
            </a:r>
            <a:endParaRPr>
              <a:solidFill>
                <a:srgbClr val="E69138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●"/>
            </a:pPr>
            <a:r>
              <a:rPr b="1" lang="en">
                <a:solidFill>
                  <a:srgbClr val="434343"/>
                </a:solidFill>
              </a:rPr>
              <a:t>YT Video Explain </a:t>
            </a:r>
            <a:r>
              <a:rPr b="1" lang="en" u="sng">
                <a:solidFill>
                  <a:srgbClr val="E69138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https://youtu.be/Rj11_ZpqCDs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</cp:coreProperties>
</file>